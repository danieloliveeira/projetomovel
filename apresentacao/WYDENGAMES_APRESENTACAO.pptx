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  <p:embeddedFont>
      <p:font typeface="Arial Blac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xRHhV86LvFJukCD3ygHrHJ/H2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ArialBlack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Source File:</a:t>
            </a:r>
            <a:br>
              <a:rPr lang="pt-BR"/>
            </a:br>
            <a:r>
              <a:rPr lang="pt-BR"/>
              <a:t>https://unsplash.com/photos/PK_t0Lrh7MM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https://unsplash.com/photos/DItYlc26zVI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https://unsplash.com/photos/y9L5-wmifaY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https://unsplash.com/photos/MQ9U2GFnnDc</a:t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Source File:</a:t>
            </a:r>
            <a:br>
              <a:rPr lang="pt-BR"/>
            </a:br>
            <a:r>
              <a:rPr lang="pt-BR"/>
              <a:t>https://unsplash.com/photos/PK_t0Lrh7MM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https://unsplash.com/photos/DItYlc26zVI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https://unsplash.com/photos/y9L5-wmifaY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https://unsplash.com/photos/MQ9U2GFnnDc</a:t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07ff9e5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307ff9e5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07ff9e5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a307ff9e5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07ff9e5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a307ff9e5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307ff9e5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307ff9e5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307ff9e5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307ff9e5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307ff9e5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a307ff9e5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307ff9e5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307ff9e5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bf1bb46c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9bf1bb46c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15"/>
            <a:ext cx="9144000" cy="513907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2"/>
          <p:cNvSpPr txBox="1"/>
          <p:nvPr>
            <p:ph type="title"/>
          </p:nvPr>
        </p:nvSpPr>
        <p:spPr>
          <a:xfrm>
            <a:off x="1828800" y="742950"/>
            <a:ext cx="5791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Quattrocento Sans"/>
              <a:buNone/>
              <a:defRPr b="1" i="0" sz="4000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305800" y="4741582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_Full Blank">
  <p:cSld name="42_Full 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/>
          <p:nvPr>
            <p:ph idx="2" type="pic"/>
          </p:nvPr>
        </p:nvSpPr>
        <p:spPr>
          <a:xfrm>
            <a:off x="531280" y="1209919"/>
            <a:ext cx="8081700" cy="32406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24"/>
          <p:cNvSpPr txBox="1"/>
          <p:nvPr/>
        </p:nvSpPr>
        <p:spPr>
          <a:xfrm>
            <a:off x="2022506" y="4800182"/>
            <a:ext cx="21828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Template</a:t>
            </a:r>
            <a:endParaRPr b="0" i="0" sz="13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7" name="Google Shape;57;p24"/>
          <p:cNvSpPr/>
          <p:nvPr/>
        </p:nvSpPr>
        <p:spPr>
          <a:xfrm>
            <a:off x="439495" y="4774328"/>
            <a:ext cx="314100" cy="3171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430462" y="4812635"/>
            <a:ext cx="335400" cy="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9" name="Google Shape;59;p24"/>
          <p:cNvCxnSpPr/>
          <p:nvPr/>
        </p:nvCxnSpPr>
        <p:spPr>
          <a:xfrm>
            <a:off x="875677" y="4838294"/>
            <a:ext cx="1200" cy="189300"/>
          </a:xfrm>
          <a:prstGeom prst="straightConnector1">
            <a:avLst/>
          </a:prstGeom>
          <a:noFill/>
          <a:ln cap="rnd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24"/>
          <p:cNvSpPr/>
          <p:nvPr/>
        </p:nvSpPr>
        <p:spPr>
          <a:xfrm>
            <a:off x="1287010" y="4820918"/>
            <a:ext cx="743700" cy="223800"/>
          </a:xfrm>
          <a:prstGeom prst="roundRect">
            <a:avLst>
              <a:gd fmla="val 10526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pt-BR" sz="13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Scope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" name="Google Shape;61;p24"/>
          <p:cNvGrpSpPr/>
          <p:nvPr/>
        </p:nvGrpSpPr>
        <p:grpSpPr>
          <a:xfrm>
            <a:off x="1009439" y="4790428"/>
            <a:ext cx="185877" cy="285245"/>
            <a:chOff x="5591175" y="1006475"/>
            <a:chExt cx="1009651" cy="1549400"/>
          </a:xfrm>
        </p:grpSpPr>
        <p:sp>
          <p:nvSpPr>
            <p:cNvPr id="62" name="Google Shape;62;p24"/>
            <p:cNvSpPr/>
            <p:nvPr/>
          </p:nvSpPr>
          <p:spPr>
            <a:xfrm>
              <a:off x="5591175" y="1385888"/>
              <a:ext cx="214313" cy="887412"/>
            </a:xfrm>
            <a:custGeom>
              <a:rect b="b" l="l" r="r" t="t"/>
              <a:pathLst>
                <a:path extrusionOk="0" h="559" w="135">
                  <a:moveTo>
                    <a:pt x="0" y="78"/>
                  </a:moveTo>
                  <a:lnTo>
                    <a:pt x="0" y="559"/>
                  </a:lnTo>
                  <a:lnTo>
                    <a:pt x="135" y="481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4"/>
            <p:cNvSpPr/>
            <p:nvPr/>
          </p:nvSpPr>
          <p:spPr>
            <a:xfrm>
              <a:off x="5851525" y="1162050"/>
              <a:ext cx="212725" cy="887413"/>
            </a:xfrm>
            <a:custGeom>
              <a:rect b="b" l="l" r="r" t="t"/>
              <a:pathLst>
                <a:path extrusionOk="0" h="559" w="134">
                  <a:moveTo>
                    <a:pt x="0" y="78"/>
                  </a:moveTo>
                  <a:lnTo>
                    <a:pt x="0" y="559"/>
                  </a:lnTo>
                  <a:lnTo>
                    <a:pt x="134" y="481"/>
                  </a:lnTo>
                  <a:lnTo>
                    <a:pt x="134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4"/>
            <p:cNvSpPr/>
            <p:nvPr/>
          </p:nvSpPr>
          <p:spPr>
            <a:xfrm>
              <a:off x="5851525" y="1698625"/>
              <a:ext cx="212725" cy="857250"/>
            </a:xfrm>
            <a:custGeom>
              <a:rect b="b" l="l" r="r" t="t"/>
              <a:pathLst>
                <a:path extrusionOk="0" h="540" w="134">
                  <a:moveTo>
                    <a:pt x="0" y="78"/>
                  </a:moveTo>
                  <a:lnTo>
                    <a:pt x="0" y="540"/>
                  </a:lnTo>
                  <a:lnTo>
                    <a:pt x="134" y="462"/>
                  </a:lnTo>
                  <a:lnTo>
                    <a:pt x="134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4"/>
            <p:cNvSpPr/>
            <p:nvPr/>
          </p:nvSpPr>
          <p:spPr>
            <a:xfrm>
              <a:off x="6119813" y="1006475"/>
              <a:ext cx="214313" cy="884238"/>
            </a:xfrm>
            <a:custGeom>
              <a:rect b="b" l="l" r="r" t="t"/>
              <a:pathLst>
                <a:path extrusionOk="0" h="557" w="135">
                  <a:moveTo>
                    <a:pt x="0" y="78"/>
                  </a:moveTo>
                  <a:lnTo>
                    <a:pt x="0" y="557"/>
                  </a:lnTo>
                  <a:lnTo>
                    <a:pt x="135" y="479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4"/>
            <p:cNvSpPr/>
            <p:nvPr/>
          </p:nvSpPr>
          <p:spPr>
            <a:xfrm>
              <a:off x="6386513" y="1100138"/>
              <a:ext cx="214313" cy="1084262"/>
            </a:xfrm>
            <a:custGeom>
              <a:rect b="b" l="l" r="r" t="t"/>
              <a:pathLst>
                <a:path extrusionOk="0" h="683" w="135">
                  <a:moveTo>
                    <a:pt x="0" y="78"/>
                  </a:moveTo>
                  <a:lnTo>
                    <a:pt x="0" y="683"/>
                  </a:lnTo>
                  <a:lnTo>
                    <a:pt x="135" y="605"/>
                  </a:lnTo>
                  <a:lnTo>
                    <a:pt x="135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7" name="Google Shape;67;p24"/>
          <p:cNvCxnSpPr/>
          <p:nvPr/>
        </p:nvCxnSpPr>
        <p:spPr>
          <a:xfrm>
            <a:off x="4174755" y="4838294"/>
            <a:ext cx="1200" cy="189300"/>
          </a:xfrm>
          <a:prstGeom prst="straightConnector1">
            <a:avLst/>
          </a:prstGeom>
          <a:noFill/>
          <a:ln cap="rnd" cmpd="sng" w="143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" name="Google Shape;68;p24"/>
          <p:cNvSpPr/>
          <p:nvPr/>
        </p:nvSpPr>
        <p:spPr>
          <a:xfrm>
            <a:off x="4287046" y="4811724"/>
            <a:ext cx="24009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pt-BR" sz="1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www.slidemodel.com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93C47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title"/>
          </p:nvPr>
        </p:nvSpPr>
        <p:spPr>
          <a:xfrm>
            <a:off x="1707188" y="433948"/>
            <a:ext cx="5791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Quattrocento Sans"/>
              <a:buNone/>
            </a:pPr>
            <a:r>
              <a:rPr lang="pt-BR" sz="5400"/>
              <a:t>WYDEN GAMES</a:t>
            </a:r>
            <a:endParaRPr/>
          </a:p>
        </p:txBody>
      </p:sp>
      <p:sp>
        <p:nvSpPr>
          <p:cNvPr id="75" name="Google Shape;75;p1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8794751" y="4772025"/>
            <a:ext cx="352500" cy="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 txBox="1"/>
          <p:nvPr>
            <p:ph idx="12" type="sldNum"/>
          </p:nvPr>
        </p:nvSpPr>
        <p:spPr>
          <a:xfrm>
            <a:off x="8305800" y="4725707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pt-BR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78" name="Google Shape;78;p1"/>
          <p:cNvSpPr txBox="1"/>
          <p:nvPr/>
        </p:nvSpPr>
        <p:spPr>
          <a:xfrm>
            <a:off x="996800" y="2215050"/>
            <a:ext cx="7127100" cy="1102200"/>
          </a:xfrm>
          <a:prstGeom prst="rect">
            <a:avLst/>
          </a:prstGeom>
          <a:solidFill>
            <a:srgbClr val="93C47D"/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CONTROLE DA SUA JOGATINA</a:t>
            </a:r>
            <a:endParaRPr b="1" i="0" sz="1800" u="none" cap="none" strike="noStrike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2185048" y="512725"/>
            <a:ext cx="47739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400"/>
              <a:buFont typeface="Quattrocento Sans"/>
              <a:buNone/>
            </a:pPr>
            <a:r>
              <a:rPr lang="pt-BR" sz="5400"/>
              <a:t>Conheça o Time</a:t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794751" y="4772025"/>
            <a:ext cx="352500" cy="9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 txBox="1"/>
          <p:nvPr>
            <p:ph idx="12" type="sldNum"/>
          </p:nvPr>
        </p:nvSpPr>
        <p:spPr>
          <a:xfrm>
            <a:off x="8305800" y="4725707"/>
            <a:ext cx="4572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pt-BR" sz="1200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1819200" y="1883975"/>
            <a:ext cx="5505600" cy="17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1 - Daniel Vitor Fonseca de Oliveira</a:t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pt-BR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2 - </a:t>
            </a:r>
            <a:r>
              <a:rPr b="1" i="1"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ADEMIR FILHO PINHO DA SILVA</a:t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2300850" y="716225"/>
            <a:ext cx="45423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ÍNDICE</a:t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676400" y="1583125"/>
            <a:ext cx="5791200" cy="2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●"/>
            </a:pPr>
            <a:r>
              <a:rPr lang="pt-BR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CRONOGRAMA</a:t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●"/>
            </a:pPr>
            <a:r>
              <a:rPr lang="pt-BR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OBJETIVO</a:t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51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Quattrocento Sans"/>
              <a:buChar char="●"/>
            </a:pPr>
            <a:r>
              <a:rPr lang="pt-BR" sz="15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15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3559650" y="461025"/>
            <a:ext cx="20247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AGENDA</a:t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1348725" y="1585875"/>
            <a:ext cx="4709400" cy="2578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1 - Levantamento de </a:t>
            </a:r>
            <a:r>
              <a:rPr lang="pt-BR" sz="1500">
                <a:solidFill>
                  <a:schemeClr val="dk2"/>
                </a:solidFill>
              </a:rPr>
              <a:t>requisitos funcionais e não funcionais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2 - </a:t>
            </a:r>
            <a:r>
              <a:rPr lang="pt-BR" sz="1500">
                <a:solidFill>
                  <a:schemeClr val="dk2"/>
                </a:solidFill>
              </a:rPr>
              <a:t>Desenvolvimento e primeira entrega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3 - </a:t>
            </a:r>
            <a:r>
              <a:rPr lang="pt-BR" sz="1500">
                <a:solidFill>
                  <a:schemeClr val="dk2"/>
                </a:solidFill>
              </a:rPr>
              <a:t>Recolhimento de Feedback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4 - </a:t>
            </a:r>
            <a:r>
              <a:rPr lang="pt-BR" sz="1500">
                <a:solidFill>
                  <a:schemeClr val="dk2"/>
                </a:solidFill>
              </a:rPr>
              <a:t>Finalização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8"/>
          <p:cNvCxnSpPr/>
          <p:nvPr/>
        </p:nvCxnSpPr>
        <p:spPr>
          <a:xfrm>
            <a:off x="6044750" y="1580475"/>
            <a:ext cx="13500" cy="257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8"/>
          <p:cNvSpPr txBox="1"/>
          <p:nvPr/>
        </p:nvSpPr>
        <p:spPr>
          <a:xfrm>
            <a:off x="6044750" y="1585875"/>
            <a:ext cx="1750500" cy="2578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mês</a:t>
            </a:r>
            <a:b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pt-BR" sz="1500">
                <a:solidFill>
                  <a:schemeClr val="dk2"/>
                </a:solidFill>
              </a:rPr>
              <a:t>semanas</a:t>
            </a:r>
            <a:b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2"/>
                </a:solidFill>
              </a:rPr>
              <a:t>1</a:t>
            </a: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meses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>
                <a:solidFill>
                  <a:schemeClr val="dk2"/>
                </a:solidFill>
              </a:rPr>
              <a:t>2</a:t>
            </a:r>
            <a:r>
              <a:rPr b="0" i="0" lang="pt-BR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500">
                <a:solidFill>
                  <a:schemeClr val="dk2"/>
                </a:solidFill>
              </a:rPr>
              <a:t>semanas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2896575" y="1231825"/>
            <a:ext cx="16137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endParaRPr b="1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6044750" y="1231825"/>
            <a:ext cx="1750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pt-BR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PRAZO EST.</a:t>
            </a:r>
            <a:endParaRPr b="1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3326400" y="455750"/>
            <a:ext cx="24912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69750" y="1218950"/>
            <a:ext cx="900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Desenvolver um sistema </a:t>
            </a:r>
            <a:r>
              <a:rPr lang="pt-BR" sz="1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inteligente, dinâmico e intuitivo, para que usuários possam ter controle de suas futuras jogatinas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0" y="601700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480574" y="3447697"/>
            <a:ext cx="2568000" cy="5331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850" lIns="71850" spcFirstLastPara="1" rIns="71850" wrap="square" tIns="7185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1572"/>
              <a:buFont typeface="Arial"/>
              <a:buNone/>
            </a:pPr>
            <a:r>
              <a:rPr lang="pt-BR" sz="1571">
                <a:solidFill>
                  <a:srgbClr val="FFFFFF"/>
                </a:solidFill>
              </a:rPr>
              <a:t>Feedback em Jogos</a:t>
            </a:r>
            <a:endParaRPr b="0" i="0" sz="1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967430" y="3447700"/>
            <a:ext cx="2685300" cy="533100"/>
          </a:xfrm>
          <a:prstGeom prst="flowChartAlternateProcess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lin ang="5400012" scaled="0"/>
          </a:gra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850" lIns="71850" spcFirstLastPara="1" rIns="71850" wrap="square" tIns="71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503"/>
              </a:spcBef>
              <a:spcAft>
                <a:spcPts val="0"/>
              </a:spcAft>
              <a:buClr>
                <a:srgbClr val="000000"/>
              </a:buClr>
              <a:buSzPts val="1572"/>
              <a:buFont typeface="Arial"/>
              <a:buNone/>
            </a:pPr>
            <a:r>
              <a:rPr lang="pt-BR" sz="1571">
                <a:solidFill>
                  <a:srgbClr val="FFFFFF"/>
                </a:solidFill>
              </a:rPr>
              <a:t>Log de Jogos</a:t>
            </a:r>
            <a:endParaRPr b="0" i="0" sz="15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923" y="1386725"/>
            <a:ext cx="1684225" cy="36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 txBox="1"/>
          <p:nvPr/>
        </p:nvSpPr>
        <p:spPr>
          <a:xfrm>
            <a:off x="3713575" y="1023375"/>
            <a:ext cx="1770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 LOGIN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307ff9e51_0_3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a307ff9e51_0_3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1" name="Google Shape;131;g3a307ff9e51_0_3"/>
          <p:cNvSpPr txBox="1"/>
          <p:nvPr/>
        </p:nvSpPr>
        <p:spPr>
          <a:xfrm>
            <a:off x="3566325" y="1070150"/>
            <a:ext cx="2712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 REGISTER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2" name="Google Shape;132;g3a307ff9e51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525" y="1414725"/>
            <a:ext cx="1672950" cy="36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07ff9e51_0_11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a307ff9e51_0_11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9" name="Google Shape;139;g3a307ff9e51_0_11"/>
          <p:cNvSpPr txBox="1"/>
          <p:nvPr/>
        </p:nvSpPr>
        <p:spPr>
          <a:xfrm>
            <a:off x="3826850" y="1118938"/>
            <a:ext cx="2605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 HOME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0" name="Google Shape;140;g3a307ff9e51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5301" y="1511050"/>
            <a:ext cx="1653399" cy="360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307ff9e51_0_19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a307ff9e51_0_19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7" name="Google Shape;147;g3a307ff9e51_0_19"/>
          <p:cNvSpPr txBox="1"/>
          <p:nvPr/>
        </p:nvSpPr>
        <p:spPr>
          <a:xfrm>
            <a:off x="3900350" y="1092213"/>
            <a:ext cx="2605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SIDEBAR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8" name="Google Shape;148;g3a307ff9e51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188" y="1426825"/>
            <a:ext cx="1669075" cy="36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307ff9e51_0_27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a307ff9e51_0_27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5" name="Google Shape;155;g3a307ff9e51_0_27"/>
          <p:cNvSpPr txBox="1"/>
          <p:nvPr/>
        </p:nvSpPr>
        <p:spPr>
          <a:xfrm>
            <a:off x="3656700" y="1030825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TELAS GAMES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6" name="Google Shape;156;g3a307ff9e51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3650" y="1465650"/>
            <a:ext cx="1676700" cy="36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307ff9e51_0_35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a307ff9e51_0_35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63" name="Google Shape;163;g3a307ff9e51_0_35"/>
          <p:cNvSpPr txBox="1"/>
          <p:nvPr/>
        </p:nvSpPr>
        <p:spPr>
          <a:xfrm>
            <a:off x="3616600" y="1030825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TELAS ACCOUNT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4" name="Google Shape;164;g3a307ff9e51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7550" y="1426350"/>
            <a:ext cx="1687350" cy="36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a307ff9e51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5675" y="1437730"/>
            <a:ext cx="1687350" cy="364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07ff9e51_0_44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a307ff9e51_0_44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2" name="Google Shape;172;g3a307ff9e51_0_44"/>
          <p:cNvSpPr txBox="1"/>
          <p:nvPr/>
        </p:nvSpPr>
        <p:spPr>
          <a:xfrm>
            <a:off x="3496350" y="1119838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TELAS LOG GAME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3" name="Google Shape;173;g3a307ff9e51_0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5102" y="1506775"/>
            <a:ext cx="1670300" cy="360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a307ff9e51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2275" y="1506775"/>
            <a:ext cx="1883675" cy="36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07ff9e51_0_53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a307ff9e51_0_53"/>
          <p:cNvSpPr txBox="1"/>
          <p:nvPr/>
        </p:nvSpPr>
        <p:spPr>
          <a:xfrm>
            <a:off x="3199225" y="32125"/>
            <a:ext cx="27990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TELAS DO APLICATIVO</a:t>
            </a:r>
            <a:endParaRPr sz="20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1" name="Google Shape;181;g3a307ff9e51_0_53"/>
          <p:cNvSpPr txBox="1"/>
          <p:nvPr/>
        </p:nvSpPr>
        <p:spPr>
          <a:xfrm>
            <a:off x="3496350" y="1119838"/>
            <a:ext cx="26055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TELAS PAINEL ADMIN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2" name="Google Shape;182;g3a307ff9e51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248" y="1517994"/>
            <a:ext cx="1613700" cy="349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a307ff9e51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3075" y="1518000"/>
            <a:ext cx="1756825" cy="34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f1bb46cf_0_13"/>
          <p:cNvSpPr txBox="1"/>
          <p:nvPr>
            <p:ph type="title"/>
          </p:nvPr>
        </p:nvSpPr>
        <p:spPr>
          <a:xfrm>
            <a:off x="2857050" y="1839425"/>
            <a:ext cx="34299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 sz="5000"/>
              <a:t>OBRIGADO</a:t>
            </a:r>
            <a:endParaRPr sz="5000"/>
          </a:p>
        </p:txBody>
      </p:sp>
      <p:sp>
        <p:nvSpPr>
          <p:cNvPr id="189" name="Google Shape;189;g39bf1bb46cf_0_13"/>
          <p:cNvSpPr/>
          <p:nvPr/>
        </p:nvSpPr>
        <p:spPr>
          <a:xfrm>
            <a:off x="0" y="860425"/>
            <a:ext cx="1613700" cy="371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